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6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Divine Sweets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F6E5DF"/>
                </a:solidFill>
                <a:latin typeface="Calibri"/>
              </a:rPr>
              <a:t>Aplicativo mobile de encomendas para confeitaria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3703320"/>
            <a:ext cx="1371600" cy="38100"/>
          </a:xfrm>
          <a:prstGeom prst="rect">
            <a:avLst/>
          </a:prstGeom>
          <a:solidFill>
            <a:srgbClr val="F6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058400" cy="1136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700" b="0" i="0" dirty="0">
                <a:solidFill>
                  <a:srgbClr val="FFFFFF"/>
                </a:solidFill>
                <a:latin typeface="Calibri"/>
              </a:rPr>
              <a:t>Carine </a:t>
            </a:r>
            <a:r>
              <a:rPr lang="en-US" sz="1700" b="0" i="0" dirty="0" err="1">
                <a:solidFill>
                  <a:srgbClr val="FFFFFF"/>
                </a:solidFill>
                <a:latin typeface="Calibri"/>
              </a:rPr>
              <a:t>Renostro</a:t>
            </a:r>
            <a:r>
              <a:rPr lang="en-US" sz="170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Gabriel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Giacobbo</a:t>
            </a:r>
            <a:r>
              <a:rPr lang="en-US" sz="170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1700" b="0" i="0" dirty="0" err="1">
                <a:solidFill>
                  <a:srgbClr val="FFFFFF"/>
                </a:solidFill>
                <a:latin typeface="Calibri"/>
              </a:rPr>
              <a:t>Thuaina</a:t>
            </a:r>
            <a:r>
              <a:rPr lang="en-US" sz="1700" b="0" i="0" dirty="0">
                <a:solidFill>
                  <a:srgbClr val="FFFFFF"/>
                </a:solidFill>
                <a:latin typeface="Calibri"/>
              </a:rPr>
              <a:t> Alexandra Maia</a:t>
            </a:r>
            <a:endParaRPr sz="17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50000"/>
              </a:lnSpc>
            </a:pPr>
            <a:r>
              <a:rPr sz="1700" b="0" i="0" dirty="0" err="1">
                <a:solidFill>
                  <a:srgbClr val="FFFFFF"/>
                </a:solidFill>
                <a:latin typeface="Calibri"/>
              </a:rPr>
              <a:t>Desenvolvimento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Mobile —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Atividade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Avaliativa</a:t>
            </a:r>
            <a:r>
              <a:rPr sz="1700" b="0" i="0" dirty="0">
                <a:solidFill>
                  <a:srgbClr val="FFFFFF"/>
                </a:solidFill>
                <a:latin typeface="Calibri"/>
              </a:rPr>
              <a:t> 2</a:t>
            </a:r>
          </a:p>
          <a:p>
            <a:pPr algn="l">
              <a:lnSpc>
                <a:spcPct val="150000"/>
              </a:lnSpc>
            </a:pPr>
            <a:r>
              <a:rPr sz="1700" b="0" i="0" dirty="0" err="1">
                <a:solidFill>
                  <a:srgbClr val="FFFFFF"/>
                </a:solidFill>
                <a:latin typeface="Calibri"/>
              </a:rPr>
              <a:t>Unoesc</a:t>
            </a:r>
            <a:endParaRPr sz="17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6E5DF"/>
                </a:solidFill>
                <a:latin typeface="Calibri"/>
              </a:rPr>
              <a:t>github.com/g8148/DivineSweets     ·     api-divinesweets.gabrie.dev/app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Uma confeitaria que trabalha por encomenda, atendendo pelo WhatsApp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353872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Preço de cabeça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79192"/>
            <a:ext cx="299008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Cada recheio, cobertura e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tamanho muda o valor.</a:t>
            </a:r>
          </a:p>
          <a:p>
            <a:pPr algn="l">
              <a:lnSpc>
                <a:spcPct val="145000"/>
              </a:lnSpc>
            </a:pPr>
            <a:endParaRPr sz="1400" b="0" i="0">
              <a:solidFill>
                <a:srgbClr val="4A4A4A"/>
              </a:solidFill>
              <a:latin typeface="Calibri"/>
            </a:endParaRP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Somar isso no meio de uma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conversa erra — e o erro sai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do bolso de alguém.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1965960"/>
            <a:ext cx="353872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91456" y="2194560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Agenda inexistente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2679192"/>
            <a:ext cx="299008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Não há como saber quantos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pedidos já foram aceitos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para o próximo sábado.</a:t>
            </a:r>
          </a:p>
          <a:p>
            <a:pPr algn="l">
              <a:lnSpc>
                <a:spcPct val="145000"/>
              </a:lnSpc>
            </a:pPr>
            <a:endParaRPr sz="1400" b="0" i="0">
              <a:solidFill>
                <a:srgbClr val="4A4A4A"/>
              </a:solidFill>
              <a:latin typeface="Calibri"/>
            </a:endParaRP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Aceita-se mais do que cabe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na produção.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75904" y="1965960"/>
            <a:ext cx="353872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0224" y="2194560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Cliente às cegas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0224" y="2679192"/>
            <a:ext cx="299008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Ele não sabe em que pé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está o pedido.</a:t>
            </a:r>
          </a:p>
          <a:p>
            <a:pPr algn="l">
              <a:lnSpc>
                <a:spcPct val="145000"/>
              </a:lnSpc>
            </a:pPr>
            <a:endParaRPr sz="1400" b="0" i="0">
              <a:solidFill>
                <a:srgbClr val="4A4A4A"/>
              </a:solidFill>
              <a:latin typeface="Calibri"/>
            </a:endParaRP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Pergunta — e alguém precisa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parar de produzir para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responder.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9107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8A8A"/>
                </a:solidFill>
                <a:latin typeface="Calibri"/>
              </a:rPr>
              <a:t>O aplicativo ataca os três.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Um aplicativo, dois perfis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53949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057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42032"/>
            <a:ext cx="484632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Cadastro e login com sessão persistente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Catálogo por categoria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Personalização com preço recalculado a cada escolha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Calendário que só oferece datas disponíveis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Retirada na loja ou entrega com taxa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Envio de foto de referência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Acompanhamento do pedido em quatro etapas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828800"/>
            <a:ext cx="53949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6248" y="2057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Administração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542032"/>
            <a:ext cx="484632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Fila de pedidos com filtro por status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Avanço de etapa e recusa com justificativa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Contato direto com o cliente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CRUD do catálogo com upload de imagem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Montagem dos grupos de personalização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Agenda: bloqueio de datas e limite por 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O caminho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Do catálogo à personalização</a:t>
            </a:r>
          </a:p>
        </p:txBody>
      </p:sp>
      <p:pic>
        <p:nvPicPr>
          <p:cNvPr id="6" name="Picture 5" descr="03-cat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495" y="1691640"/>
            <a:ext cx="190564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9895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Catálogo</a:t>
            </a:r>
          </a:p>
        </p:txBody>
      </p:sp>
      <p:pic>
        <p:nvPicPr>
          <p:cNvPr id="9" name="Picture 8" descr="04-detalhe-prod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183" y="1691640"/>
            <a:ext cx="190564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69583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Produto</a:t>
            </a:r>
          </a:p>
        </p:txBody>
      </p:sp>
      <p:pic>
        <p:nvPicPr>
          <p:cNvPr id="12" name="Picture 11" descr="05-personaliza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871" y="1691640"/>
            <a:ext cx="1905640" cy="425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59271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Personalização</a:t>
            </a:r>
          </a:p>
        </p:txBody>
      </p:sp>
      <p:pic>
        <p:nvPicPr>
          <p:cNvPr id="15" name="Picture 14" descr="06-calendario-entreg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559" y="1691640"/>
            <a:ext cx="190564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48959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Data de entrega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O caminho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Da confirmação ao acompanhamento</a:t>
            </a:r>
          </a:p>
        </p:txBody>
      </p:sp>
      <p:pic>
        <p:nvPicPr>
          <p:cNvPr id="6" name="Picture 5" descr="07-resumo-pag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495" y="1691640"/>
            <a:ext cx="190564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9895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Resumo</a:t>
            </a:r>
          </a:p>
        </p:txBody>
      </p:sp>
      <p:pic>
        <p:nvPicPr>
          <p:cNvPr id="9" name="Picture 8" descr="07b-pedido-confirm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183" y="1691640"/>
            <a:ext cx="190564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69583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Confirmado</a:t>
            </a:r>
          </a:p>
        </p:txBody>
      </p:sp>
      <p:pic>
        <p:nvPicPr>
          <p:cNvPr id="12" name="Picture 11" descr="08-acompanham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871" y="1691640"/>
            <a:ext cx="1905640" cy="425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59271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Acompanhamento</a:t>
            </a:r>
          </a:p>
        </p:txBody>
      </p:sp>
      <p:pic>
        <p:nvPicPr>
          <p:cNvPr id="15" name="Picture 14" descr="08b-meus-pedid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559" y="1691640"/>
            <a:ext cx="190564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48959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Meus pedidos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O outro lado do mesmo aplicativo</a:t>
            </a:r>
          </a:p>
        </p:txBody>
      </p:sp>
      <p:pic>
        <p:nvPicPr>
          <p:cNvPr id="6" name="Picture 5" descr="10-admin-pai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495" y="1691640"/>
            <a:ext cx="190564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9895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Fila de pedidos</a:t>
            </a:r>
          </a:p>
        </p:txBody>
      </p:sp>
      <p:pic>
        <p:nvPicPr>
          <p:cNvPr id="9" name="Picture 8" descr="11-admin-detalhe-pedi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183" y="1691640"/>
            <a:ext cx="190564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69583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Detalhe e contato</a:t>
            </a:r>
          </a:p>
        </p:txBody>
      </p:sp>
      <p:pic>
        <p:nvPicPr>
          <p:cNvPr id="12" name="Picture 11" descr="13-admin-cata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871" y="1691640"/>
            <a:ext cx="1905640" cy="425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59271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Catálogo</a:t>
            </a:r>
          </a:p>
        </p:txBody>
      </p:sp>
      <p:pic>
        <p:nvPicPr>
          <p:cNvPr id="15" name="Picture 14" descr="12-admin-agen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559" y="1691640"/>
            <a:ext cx="1905640" cy="4251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48959" y="6089904"/>
            <a:ext cx="236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A4A4A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Monorepo com três pacotes — 8.894 linhas de TypeScript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004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7004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Expo · React Native</a:t>
            </a:r>
          </a:p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Android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920240"/>
            <a:ext cx="32004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21945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api/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267004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Hono · Node 24</a:t>
            </a:r>
          </a:p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VPS Ubuntu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3977639"/>
            <a:ext cx="3200400" cy="1600200"/>
          </a:xfrm>
          <a:prstGeom prst="roundRect">
            <a:avLst/>
          </a:prstGeom>
          <a:solidFill>
            <a:srgbClr val="F6E5D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425195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shared/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4727447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preço · agenda</a:t>
            </a:r>
          </a:p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validação · tipos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206240"/>
            <a:ext cx="320040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44805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PostgreSQL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49560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127.0.0.1:7520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4251960" y="2487168"/>
            <a:ext cx="3703320" cy="457200"/>
          </a:xfrm>
          <a:prstGeom prst="leftRightArrow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2084831"/>
            <a:ext cx="3703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HTTPS · JSON · cookie de sessão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65960" y="3520440"/>
            <a:ext cx="4133088" cy="457199"/>
          </a:xfrm>
          <a:prstGeom prst="line">
            <a:avLst/>
          </a:prstGeom>
          <a:ln w="25400">
            <a:solidFill>
              <a:srgbClr val="9A3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99048" y="3520440"/>
            <a:ext cx="3227832" cy="457199"/>
          </a:xfrm>
          <a:prstGeom prst="line">
            <a:avLst/>
          </a:prstGeom>
          <a:ln w="25400">
            <a:solidFill>
              <a:srgbClr val="9A3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84080" y="3520440"/>
            <a:ext cx="0" cy="685800"/>
          </a:xfrm>
          <a:prstGeom prst="line">
            <a:avLst/>
          </a:prstGeom>
          <a:ln w="25400">
            <a:solidFill>
              <a:srgbClr val="9A3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29107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8A8A"/>
                </a:solidFill>
                <a:latin typeface="Calibri"/>
              </a:rPr>
              <a:t>As setas para shared/ são importações: os dois lados usam as mesmas funções.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decisão que moldou 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Por que existe um pacote compartilhado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21408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205740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721D24"/>
                </a:solidFill>
                <a:latin typeface="Calibri"/>
              </a:rPr>
              <a:t>Duas regras precisam existir dos dois 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68296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A4A4A"/>
                </a:solidFill>
                <a:latin typeface="Calibri"/>
              </a:rPr>
              <a:t>A tela mostra o total enquanto a pessoa escolhe. O servidor calcula o total que será cobrado. O calendário pinta de cinza os dias indisponíveis; o servidor recusa pedidos nesses dias.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90672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302666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721D24"/>
                </a:solidFill>
                <a:latin typeface="Calibri"/>
              </a:rPr>
              <a:t>Escrever a fórmula duas vezes é garantir que um dia divirjam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337560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A4A4A"/>
                </a:solidFill>
                <a:latin typeface="Calibri"/>
              </a:rPr>
              <a:t>O cliente veria um valor na tela e pagaria outro. shared/ tem funções puras — sem rede, sem banco — chamadas pelos dois lados. A regra existe uma vez só.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59936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9959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721D24"/>
                </a:solidFill>
                <a:latin typeface="Calibri"/>
              </a:rPr>
              <a:t>Isso definiu a fronteira de confiança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306824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A4A4A"/>
                </a:solidFill>
                <a:latin typeface="Calibri"/>
              </a:rPr>
              <a:t>O cliente nunca envia o preço: o schema recusa qualquer campo de valor vindo do aplicativo. O servidor recarrega o produto do banco, confere as opções e calcula ele mesmo.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349240"/>
            <a:ext cx="10607040" cy="868680"/>
          </a:xfrm>
          <a:prstGeom prst="round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60527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O aplicativo mostra. O servidor decide.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Integração com 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Documentação OpenAPI gerada do próprio código, em /docs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538728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21D24"/>
                </a:solidFill>
                <a:latin typeface="Calibri"/>
              </a:rPr>
              <a:t>Público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4A"/>
                </a:solidFill>
                <a:latin typeface="Consolas"/>
              </a:rPr>
              <a:t>GET  /api/produtos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4A"/>
                </a:solidFill>
                <a:latin typeface="Consolas"/>
              </a:rPr>
              <a:t>GET  /api/produtos/:id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4A"/>
                </a:solidFill>
                <a:latin typeface="Consolas"/>
              </a:rPr>
              <a:t>GET  /api/agenda/disponibilidade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1874519"/>
            <a:ext cx="3538728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73168" y="2084831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21D24"/>
                </a:solidFill>
                <a:latin typeface="Calibri"/>
              </a:rPr>
              <a:t>Autenticado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542032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4A"/>
                </a:solidFill>
                <a:latin typeface="Consolas"/>
              </a:rPr>
              <a:t>POST /api/pedidos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4A"/>
                </a:solidFill>
                <a:latin typeface="Consolas"/>
              </a:rPr>
              <a:t>GET  /api/pedidos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4A"/>
                </a:solidFill>
                <a:latin typeface="Consolas"/>
              </a:rPr>
              <a:t>POST /api/upload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75904" y="1874519"/>
            <a:ext cx="3538728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31936" y="2084831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721D24"/>
                </a:solidFill>
                <a:latin typeface="Calibri"/>
              </a:rPr>
              <a:t>Administração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6" y="2542032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4A"/>
                </a:solidFill>
                <a:latin typeface="Consolas"/>
              </a:rPr>
              <a:t>GET PATCH  /api/admin/pedidos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4A"/>
                </a:solidFill>
                <a:latin typeface="Consolas"/>
              </a:rPr>
              <a:t>CRUD       /api/admin/produtos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4A4A"/>
                </a:solidFill>
                <a:latin typeface="Consolas"/>
              </a:rPr>
              <a:t>GET POST DELETE  /api/admin/agenda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78808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411480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TanStack Query no aplicativo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42569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Cache, revalidação e estados de carregamento e erro sem escrever useEffect por tela.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73752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480974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Todo erro sai como { erro, codigo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120640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A tela decide pelo código, não pelo texto: um 409 data_indisponivel devolve o cliente ao calendário; os demais só exibem o aviso.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Autenticação e autorização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Better Auth · sessão guardada em armazenamento cifrado do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75688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2011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Dois middlewares encadeados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22576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A4A4A"/>
                </a:solidFill>
                <a:latin typeface="Calibri"/>
              </a:rPr>
              <a:t>exigirSessao resolve a sessão e normaliza o papel — só a string exata "admin" promove; qualquer outro valor no banco vira "cliente". exigirAdmin recusa o restante com 403.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44952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98094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Ninguém se promove pela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91840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A4A4A"/>
                </a:solidFill>
                <a:latin typeface="Calibri"/>
              </a:rPr>
              <a:t>O campo role é declarado com input: false. Não há caminho pelo cadastro nem pela edição de perfil. A promoção é um UPDATE manual, por quem tem acesso ao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14216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95020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As rotas do aplicativo são conveniência, não segurança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261104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A4A4A"/>
                </a:solidFill>
                <a:latin typeface="Calibri"/>
              </a:rPr>
              <a:t>Os grupos (auth), (cliente) e (admin) redirecionam quem não deveria estar ali — mas toda rota administrativa é verificada no servidor. Um APK modificado não ganha nada.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83480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4919472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O upload é tratado como entrada hostil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5230368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A4A4A"/>
                </a:solidFill>
                <a:latin typeface="Calibri"/>
              </a:rPr>
              <a:t>Tamanho conferido antes de ler o corpo; conteúdo validado decodificando a imagem, e não pela extensão; nome do arquivo sorteado, para não haver travessia de caminho.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Três decisões de 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Doze tabelas, três migrações versionadas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538728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103119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Dinheiro em centavos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87751"/>
            <a:ext cx="2990088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R$ 45,90 é gravado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como 4590, inteiro.</a:t>
            </a:r>
          </a:p>
          <a:p>
            <a:pPr algn="l">
              <a:lnSpc>
                <a:spcPct val="130000"/>
              </a:lnSpc>
            </a:pPr>
            <a:endParaRPr sz="1400" b="0" i="0">
              <a:solidFill>
                <a:srgbClr val="4A4A4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Ponto flutuante não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representa decimais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exatamente: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0.1 + 0.2 não é 0.3.</a:t>
            </a:r>
          </a:p>
          <a:p>
            <a:pPr algn="l">
              <a:lnSpc>
                <a:spcPct val="130000"/>
              </a:lnSpc>
            </a:pPr>
            <a:endParaRPr sz="1400" b="0" i="0">
              <a:solidFill>
                <a:srgbClr val="4A4A4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Somando acréscimos, o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erro se acumularia.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1874519"/>
            <a:ext cx="3538728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91456" y="2103119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Data sem fuso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2587751"/>
            <a:ext cx="2990088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A entrega é um dia do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calendário, não um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instante.</a:t>
            </a:r>
          </a:p>
          <a:p>
            <a:pPr algn="l">
              <a:lnSpc>
                <a:spcPct val="130000"/>
              </a:lnSpc>
            </a:pPr>
            <a:endParaRPr sz="1400" b="0" i="0">
              <a:solidFill>
                <a:srgbClr val="4A4A4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Como timestamp, um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pedido para o dia 10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feito às 22h vira dia 9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ou 11 conforme o fuso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de quem lê.</a:t>
            </a:r>
          </a:p>
          <a:p>
            <a:pPr algn="l">
              <a:lnSpc>
                <a:spcPct val="130000"/>
              </a:lnSpc>
            </a:pPr>
            <a:endParaRPr sz="1400" b="0" i="0">
              <a:solidFill>
                <a:srgbClr val="4A4A4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A coluna é texto puro.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75904" y="1874519"/>
            <a:ext cx="3538728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0224" y="2103119"/>
            <a:ext cx="29900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Pedido é instantâneo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0224" y="2587751"/>
            <a:ext cx="2990088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As escolhas copiam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título, nome e acréscimo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no momento do pedido.</a:t>
            </a:r>
          </a:p>
          <a:p>
            <a:pPr algn="l">
              <a:lnSpc>
                <a:spcPct val="130000"/>
              </a:lnSpc>
            </a:pPr>
            <a:endParaRPr sz="1400" b="0" i="0">
              <a:solidFill>
                <a:srgbClr val="4A4A4A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Sem isso, editar o preço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de um recheio hoje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reescreveria pedidos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fechados no mês passado.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Experiência do usuário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Princípios aplicados — e o que mudou depois de usar o app no aparelho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29968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96596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Não deixar errar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276856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Máscara em telefone e preço enquanto se digita. O calendário não oferece data indisponível: mostra o dia em cinza com o motivo, em vez de aceitar e recusar depois.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62656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89864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O preço sempre à vista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0954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Rodapé fixo acompanha a personalização. Ninguém chega ao resumo e se surpreende.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21024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5570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Estados desenhados, não tela em branco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867912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Toda lista tem carregando, vazia — com texto que explica o que fazer — e erro, com botão de tentar de novo.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42816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417880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Seletores mais legíveis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489704"/>
            <a:ext cx="10607040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4A4A4A"/>
                </a:solidFill>
                <a:latin typeface="Calibri"/>
              </a:rPr>
              <a:t>As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escolhas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ficam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gravadas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passaram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pílulas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para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linhas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com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rádio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: o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rótulo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não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quebra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e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os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acréscimos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ficam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alinhados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numa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coluna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Os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filtros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seguem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pílula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em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coluna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empurrariam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para fora da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tela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a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lista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filtram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Verificação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Executor nativo do Node, sem framework externo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291840" cy="2194560"/>
          </a:xfrm>
          <a:prstGeom prst="round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157984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Calibri"/>
              </a:rPr>
              <a:t>135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2958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6E5DF"/>
                </a:solidFill>
                <a:latin typeface="Calibri"/>
              </a:rPr>
              <a:t>testes automatizados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9659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21D24"/>
                </a:solidFill>
                <a:latin typeface="Calibri"/>
              </a:rPr>
              <a:t>shared/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4A4A4A"/>
                </a:solidFill>
                <a:latin typeface="Calibr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9659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4A4A"/>
                </a:solidFill>
                <a:latin typeface="Calibri"/>
              </a:rPr>
              <a:t>preço, agenda, formatação, schemas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9572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21D24"/>
                </a:solidFill>
                <a:latin typeface="Calibri"/>
              </a:rPr>
              <a:t>api/servicos/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9572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4A4A4A"/>
                </a:solidFill>
                <a:latin typeface="Calibri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95728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4A4A"/>
                </a:solidFill>
                <a:latin typeface="Calibri"/>
              </a:rPr>
              <a:t>pedido, leitura restrita, agenda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82549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21D24"/>
                </a:solidFill>
                <a:latin typeface="Calibri"/>
              </a:rPr>
              <a:t>api/rotas/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25496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4A4A4A"/>
                </a:solidFill>
                <a:latin typeface="Calibri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825496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4A4A"/>
                </a:solidFill>
                <a:latin typeface="Calibri"/>
              </a:rPr>
              <a:t>rotas com banco real, autorização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25526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21D24"/>
                </a:solidFill>
                <a:latin typeface="Calibri"/>
              </a:rPr>
              <a:t>api/ demais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255264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4A4A4A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255264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4A4A"/>
                </a:solidFill>
                <a:latin typeface="Calibri"/>
              </a:rPr>
              <a:t>schema, seed, sessão, montagem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6850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21D24"/>
                </a:solidFill>
                <a:latin typeface="Calibri"/>
              </a:rPr>
              <a:t>app/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8503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4A4A4A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68503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A4A4A"/>
                </a:solidFill>
                <a:latin typeface="Calibri"/>
              </a:rPr>
              <a:t>cliente HTTP, erros de autenticação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98848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" y="44348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A ênfase está no que custa dinheiro ou expõe dados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745736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Que o preço não vem do cliente. Que um usuário não lê o pedido de outro. Que a rota administrativa recusa quem não é administrador. Que a data não escorrega de fuso.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468112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540410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24"/>
                </a:solidFill>
                <a:latin typeface="Calibri"/>
              </a:rPr>
              <a:t>Rotas testadas contra PostgreSQL real, sem simulacros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571500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Um simulacro de banco confirma a chamada que você imaginou, não a que o banco aceita.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A8A8A"/>
                </a:solidFill>
                <a:latin typeface="Calibri"/>
              </a:rPr>
              <a:t>VPS Ubuntu ARM64 — compartilhada com outros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42316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Nada em porta padrão, nada exposto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734056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A4A4A"/>
                </a:solidFill>
                <a:latin typeface="Calibri"/>
              </a:rPr>
              <a:t>API em 127.0.0.1:8100 e Postgres em 127.0.0.1:7520, os dois em loopback. A exposição é por Cloudflare Tunnel: nenhuma porta aberta no firewall, TLS gerenciado.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56432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339242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Node próprio, sem mexer no dos outros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703320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A4A4A"/>
                </a:solidFill>
                <a:latin typeface="Calibri"/>
              </a:rPr>
              <a:t>O sistema tem Node 22, exigido por outros projetos. A versão 24 fica em /opt/node24 e entra no PATH só dentro do deploy e do serviço.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25696"/>
            <a:ext cx="82296" cy="274320"/>
          </a:xfrm>
          <a:prstGeom prst="roundRect">
            <a:avLst/>
          </a:prstGeom>
          <a:solidFill>
            <a:srgbClr val="9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36168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Deploy automatizado com verificação de saúde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672584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A4A4A"/>
                </a:solidFill>
                <a:latin typeface="Calibri"/>
              </a:rPr>
              <a:t>Um push na main atualiza o código por SSH, roda migrações e reinicia o serviço. Se /health não responder, o deploy falha — em vez de deixar o serviço quebrado no 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2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5603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Limitações e 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539496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2057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O que ficou de fora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542032"/>
            <a:ext cx="4846320" cy="9064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 dirty="0" err="1">
                <a:solidFill>
                  <a:srgbClr val="4A4A4A"/>
                </a:solidFill>
                <a:latin typeface="Calibri"/>
              </a:rPr>
              <a:t>Pagamento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não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é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processado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— a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tela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registra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a forma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escolhida</a:t>
            </a:r>
            <a:endParaRPr sz="1400" b="0" i="0" dirty="0">
              <a:solidFill>
                <a:srgbClr val="4A4A4A"/>
              </a:solidFill>
              <a:latin typeface="Calibri"/>
            </a:endParaRPr>
          </a:p>
          <a:p>
            <a:pPr algn="l">
              <a:lnSpc>
                <a:spcPct val="145000"/>
              </a:lnSpc>
            </a:pPr>
            <a:r>
              <a:rPr sz="1400" b="0" i="0" dirty="0">
                <a:solidFill>
                  <a:srgbClr val="4A4A4A"/>
                </a:solidFill>
                <a:latin typeface="Calibri"/>
              </a:rPr>
              <a:t>Sem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notificação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push: o status é visto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ao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abrir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o app</a:t>
            </a:r>
          </a:p>
          <a:p>
            <a:pPr algn="l">
              <a:lnSpc>
                <a:spcPct val="145000"/>
              </a:lnSpc>
            </a:pPr>
            <a:r>
              <a:rPr sz="1400" b="0" i="0" dirty="0">
                <a:solidFill>
                  <a:srgbClr val="4A4A4A"/>
                </a:solidFill>
                <a:latin typeface="Calibri"/>
              </a:rPr>
              <a:t>Android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apenas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— o build iOS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exige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conta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A4A4A"/>
                </a:solidFill>
                <a:latin typeface="Calibri"/>
              </a:rPr>
              <a:t>paga</a:t>
            </a:r>
            <a:r>
              <a:rPr sz="1400" b="0" i="0" dirty="0">
                <a:solidFill>
                  <a:srgbClr val="4A4A4A"/>
                </a:solidFill>
                <a:latin typeface="Calibri"/>
              </a:rPr>
              <a:t> da Apple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828800"/>
            <a:ext cx="539496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6248" y="2057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24"/>
                </a:solidFill>
                <a:latin typeface="Calibri"/>
              </a:rPr>
              <a:t>O que foi entregue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2542032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Fluxo completo das duas pontas, cliente e administração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API própria com banco relacional e autorização por papel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135 testes automatizados, typecheck limpo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Deploy automatizado com verificação de saúde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A4A4A"/>
                </a:solidFill>
                <a:latin typeface="Calibri"/>
              </a:rPr>
              <a:t>APK publicado e instalável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1396</Words>
  <Application>Microsoft Office PowerPoint</Application>
  <PresentationFormat>Widescreen</PresentationFormat>
  <Paragraphs>203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hay</cp:lastModifiedBy>
  <cp:revision>4</cp:revision>
  <dcterms:created xsi:type="dcterms:W3CDTF">2013-01-27T09:14:16Z</dcterms:created>
  <dcterms:modified xsi:type="dcterms:W3CDTF">2026-09-06T05:08:19Z</dcterms:modified>
  <cp:category/>
</cp:coreProperties>
</file>